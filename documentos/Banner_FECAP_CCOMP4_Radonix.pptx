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10101"/>
    <a:srgbClr val="006600"/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>
      <p:cViewPr>
        <p:scale>
          <a:sx n="30" d="100"/>
          <a:sy n="30" d="100"/>
        </p:scale>
        <p:origin x="1234" y="144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jp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Gabriel Carvalho Mota   Guilherme de Lima Siqueira   Rodrigo Luiz Menezes dos Reis   Vitória Leticia Maciel da Silva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5437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 </a:t>
            </a:r>
            <a:r>
              <a:rPr lang="pt-BR" sz="2400" dirty="0"/>
              <a:t>Somos o </a:t>
            </a:r>
            <a:r>
              <a:rPr lang="pt-BR" sz="2400" b="1" dirty="0"/>
              <a:t>RADONIX</a:t>
            </a:r>
            <a:r>
              <a:rPr lang="pt-BR" sz="2400" dirty="0"/>
              <a:t>, uma equipe de quatro desenvolvedores que se uniram para transformar uma ideia em um projeto real: </a:t>
            </a:r>
            <a:r>
              <a:rPr lang="pt-BR" sz="2400" b="1" dirty="0"/>
              <a:t>Vitória Maciel, Gabriel Carvalho, Guilherme Siqueira e Rodrigo Luiz</a:t>
            </a:r>
            <a:r>
              <a:rPr lang="pt-BR" sz="2400" dirty="0"/>
              <a:t>. Durante todo o desenvolvimento do </a:t>
            </a:r>
            <a:r>
              <a:rPr lang="pt-BR" sz="2400" b="1" dirty="0"/>
              <a:t>Dashboard </a:t>
            </a:r>
            <a:r>
              <a:rPr lang="pt-BR" sz="2400" b="1" dirty="0" err="1"/>
              <a:t>PicMoney</a:t>
            </a:r>
            <a:r>
              <a:rPr lang="pt-BR" sz="2400" dirty="0"/>
              <a:t>, cada um de nós focou em uma área específica, mas o importante mesmo é que a gente trabalha de forma bem integrada. O </a:t>
            </a:r>
            <a:r>
              <a:rPr lang="pt-BR" sz="2400" b="1" dirty="0"/>
              <a:t>Gabriel</a:t>
            </a:r>
            <a:r>
              <a:rPr lang="pt-BR" sz="2400" dirty="0"/>
              <a:t> foi praticamente o maestro do </a:t>
            </a:r>
            <a:r>
              <a:rPr lang="pt-BR" sz="2400" dirty="0" err="1"/>
              <a:t>chatbot</a:t>
            </a:r>
            <a:r>
              <a:rPr lang="pt-BR" sz="2400" dirty="0"/>
              <a:t>, entendendo bem como fazer a IA retornar os dados certos. O </a:t>
            </a:r>
            <a:r>
              <a:rPr lang="pt-BR" sz="2400" b="1" dirty="0"/>
              <a:t>Guilherme</a:t>
            </a:r>
            <a:r>
              <a:rPr lang="pt-BR" sz="2400" dirty="0"/>
              <a:t> estruturou o </a:t>
            </a:r>
            <a:r>
              <a:rPr lang="pt-BR" sz="2400" dirty="0" err="1"/>
              <a:t>backend</a:t>
            </a:r>
            <a:r>
              <a:rPr lang="pt-BR" sz="2400" dirty="0"/>
              <a:t> e garantiu que tudo rodasse de forma estável, o </a:t>
            </a:r>
            <a:r>
              <a:rPr lang="pt-BR" sz="2400" b="1" dirty="0"/>
              <a:t>Rodrigo</a:t>
            </a:r>
            <a:r>
              <a:rPr lang="pt-BR" sz="2400" dirty="0"/>
              <a:t> ficou com o </a:t>
            </a:r>
            <a:r>
              <a:rPr lang="pt-BR" sz="2400" dirty="0" err="1"/>
              <a:t>frontend</a:t>
            </a:r>
            <a:r>
              <a:rPr lang="pt-BR" sz="2400" dirty="0"/>
              <a:t> e a </a:t>
            </a:r>
            <a:r>
              <a:rPr lang="pt-BR" sz="2400" b="1" dirty="0"/>
              <a:t>Vitória</a:t>
            </a:r>
            <a:r>
              <a:rPr lang="pt-BR" sz="2400" dirty="0"/>
              <a:t> atuou tanto no </a:t>
            </a:r>
            <a:r>
              <a:rPr lang="pt-BR" sz="2400" dirty="0" err="1"/>
              <a:t>frontend</a:t>
            </a:r>
            <a:r>
              <a:rPr lang="pt-BR" sz="2400" dirty="0"/>
              <a:t> quanto no </a:t>
            </a:r>
            <a:r>
              <a:rPr lang="pt-BR" sz="2400" dirty="0" err="1"/>
              <a:t>backend</a:t>
            </a:r>
            <a:r>
              <a:rPr lang="pt-BR" sz="2400" dirty="0"/>
              <a:t> (Banco de Dados).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O que nos faz diferente é realmente a forma como nos ajudamos. A gente trabalha com Scrum e Kanban, fazendo reuniões semanais pra alinhar o que cada um está fazendo e se tem alguma coisa travada. Essa dinâmica deixou o projeto bem melhor do que seria se a gente tivesse trabalhado isolado.</a:t>
            </a:r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Dashboard </a:t>
            </a:r>
            <a:r>
              <a:rPr lang="pt-BR" sz="5866" b="1" dirty="0" err="1"/>
              <a:t>PicMoney</a:t>
            </a:r>
            <a:endParaRPr lang="pt-BR" sz="5866" b="1" dirty="0"/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202X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4544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A </a:t>
            </a:r>
            <a:r>
              <a:rPr lang="pt-BR" sz="2400" b="1" dirty="0" err="1"/>
              <a:t>PicMoney</a:t>
            </a:r>
            <a:r>
              <a:rPr lang="pt-BR" sz="2400" dirty="0"/>
              <a:t> é uma startup que utiliza Realidade Aumentada e Georreferenciamento para distribuir cupons virtuais em redes de parceiros comerciais, mas carece de uma ferramenta centralizada para análise de dados estratégicos, financeiros e operacionais voltada ao público executivo. Atualmente, os gestores não possuem visibilidade consolidada sobre KPIs críticos como receita líquida, margem operacional, taxa de conversão de cupons, concentração de risco por parceiros e desempenho regional, o que dificulta a tomada de decisão ágil e baseada em dados. O desafio consiste em desenvolver um </a:t>
            </a:r>
            <a:r>
              <a:rPr lang="pt-BR" sz="2400" b="1" dirty="0"/>
              <a:t>Dashboard Interativo</a:t>
            </a:r>
            <a:r>
              <a:rPr lang="pt-BR" sz="2400" dirty="0"/>
              <a:t> personalizável, capaz de integrar múltiplas fontes de dados e oferecer visualizações dinâmicas por perfil executivo (CEO e CFO), viabilizando assim uma gestão mais eficiente e estratégica do negócio.</a:t>
            </a:r>
            <a:endParaRPr lang="pt-BR" sz="2666" dirty="0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7283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 O projeto consiste no desenvolvimento de um </a:t>
            </a:r>
            <a:r>
              <a:rPr lang="pt-BR" sz="2400" b="1" dirty="0"/>
              <a:t>Dashboard Interativo Web </a:t>
            </a:r>
            <a:r>
              <a:rPr lang="pt-BR" sz="2400" dirty="0"/>
              <a:t>utilizando </a:t>
            </a:r>
            <a:r>
              <a:rPr lang="pt-BR" sz="2400" b="1" dirty="0"/>
              <a:t>Python</a:t>
            </a:r>
            <a:r>
              <a:rPr lang="pt-BR" sz="2400" dirty="0"/>
              <a:t> com </a:t>
            </a:r>
            <a:r>
              <a:rPr lang="pt-BR" sz="2400" b="1" dirty="0" err="1"/>
              <a:t>Streamlit</a:t>
            </a:r>
            <a:r>
              <a:rPr lang="pt-BR" sz="2400" dirty="0"/>
              <a:t> no </a:t>
            </a:r>
            <a:r>
              <a:rPr lang="pt-BR" sz="2400" dirty="0" err="1"/>
              <a:t>frontend</a:t>
            </a:r>
            <a:r>
              <a:rPr lang="pt-BR" sz="2400" dirty="0"/>
              <a:t> e </a:t>
            </a:r>
            <a:r>
              <a:rPr lang="pt-BR" sz="2400" b="1" dirty="0" err="1"/>
              <a:t>Flask</a:t>
            </a:r>
            <a:r>
              <a:rPr lang="pt-BR" sz="2400" dirty="0"/>
              <a:t> no </a:t>
            </a:r>
            <a:r>
              <a:rPr lang="pt-BR" sz="2400" dirty="0" err="1"/>
              <a:t>backend</a:t>
            </a:r>
            <a:r>
              <a:rPr lang="pt-BR" sz="2400" dirty="0"/>
              <a:t>, integrado a um banco de dados </a:t>
            </a:r>
            <a:r>
              <a:rPr lang="pt-BR" sz="2400" b="1" dirty="0"/>
              <a:t>MySQL</a:t>
            </a:r>
            <a:r>
              <a:rPr lang="pt-BR" sz="2400" dirty="0"/>
              <a:t> para gestão centralizada de dados da </a:t>
            </a:r>
            <a:r>
              <a:rPr lang="pt-BR" sz="2400" b="1" dirty="0" err="1"/>
              <a:t>PicMoney</a:t>
            </a:r>
            <a:r>
              <a:rPr lang="pt-BR" sz="2400" dirty="0"/>
              <a:t>. A solução oferece três interfaces personalizadas: uma página Home com visão consolidada dos principais KPIs, um dashboard específico para o </a:t>
            </a:r>
            <a:r>
              <a:rPr lang="pt-BR" sz="2400" b="1" dirty="0"/>
              <a:t>CEO</a:t>
            </a:r>
            <a:r>
              <a:rPr lang="pt-BR" sz="2400" dirty="0"/>
              <a:t> focado em métricas estratégicas, e outro para o CFO voltado a indicadores financeiros. O sistema conta com visualizações interativas utilizando </a:t>
            </a:r>
            <a:r>
              <a:rPr lang="pt-BR" sz="2400" dirty="0" err="1"/>
              <a:t>Plotly</a:t>
            </a:r>
            <a:r>
              <a:rPr lang="pt-BR" sz="2400" dirty="0"/>
              <a:t> (gráficos de linha, barras, dispersão e mapas de calor georreferenciados), filtros dinâmicos por período, categoria e região, e autenticação por perfil para garantir acesso seguro e personalizado aos executivos, proporcionando assim uma ferramenta completa para análise de dados, apoio à decisão estratégica e otimização da gestão empresarial.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Adicionalmente, foi desenvolvido um </a:t>
            </a:r>
            <a:r>
              <a:rPr lang="pt-BR" sz="2400" dirty="0" err="1"/>
              <a:t>chatbot</a:t>
            </a:r>
            <a:r>
              <a:rPr lang="pt-BR" sz="2400" dirty="0"/>
              <a:t> inteligente integrado à API do Google Gemini que, através de processamento de linguagem natural contextualizado, interpreta perguntas dos executivos e retorna dados diretamente do banco de dados MySQL. O </a:t>
            </a:r>
            <a:r>
              <a:rPr lang="pt-BR" sz="2400" dirty="0" err="1"/>
              <a:t>chatbot</a:t>
            </a:r>
            <a:r>
              <a:rPr lang="pt-BR" sz="2400" dirty="0"/>
              <a:t> utiliza prompts customizados com contexto do esquema do banco e regras de negócio da </a:t>
            </a:r>
            <a:r>
              <a:rPr lang="pt-BR" sz="2400" dirty="0" err="1"/>
              <a:t>PicMoney</a:t>
            </a:r>
            <a:r>
              <a:rPr lang="pt-BR" sz="2400" dirty="0"/>
              <a:t>, garantindo respostas precisas e alinhadas à realidade operacional, eliminando a necessidade de conhecimento técnico em SQL e proporcionando acesso instantâneo e conversacional aos indicadores estratégicos.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Eduardo </a:t>
            </a:r>
            <a:r>
              <a:rPr lang="pt-BR" sz="2666" b="1" kern="0" dirty="0" err="1"/>
              <a:t>Savino</a:t>
            </a:r>
            <a:r>
              <a:rPr lang="pt-BR" sz="2666" b="1" kern="0" dirty="0"/>
              <a:t>, Lucy Mari </a:t>
            </a:r>
            <a:r>
              <a:rPr lang="pt-BR" sz="2666" b="1" kern="0" dirty="0" err="1"/>
              <a:t>Tabuti</a:t>
            </a:r>
            <a:r>
              <a:rPr lang="pt-BR" sz="2666" b="1" kern="0" dirty="0"/>
              <a:t>, Mauricio Lopes, </a:t>
            </a:r>
            <a:r>
              <a:rPr lang="pt-BR" sz="2666" b="1" kern="0" dirty="0" err="1"/>
              <a:t>Rodnil</a:t>
            </a:r>
            <a:r>
              <a:rPr lang="pt-BR" sz="2666" b="1" kern="0" dirty="0"/>
              <a:t> Lisboa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66876" y="33546671"/>
            <a:ext cx="13318910" cy="417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  </a:t>
            </a:r>
            <a:r>
              <a:rPr lang="pt-BR" sz="2400" dirty="0"/>
              <a:t>O futuro do Dashboard </a:t>
            </a:r>
            <a:r>
              <a:rPr lang="pt-BR" sz="2400" dirty="0" err="1"/>
              <a:t>PicMoney</a:t>
            </a:r>
            <a:r>
              <a:rPr lang="pt-BR" sz="2400" dirty="0"/>
              <a:t> contempla melhorias na inteligência conversacional do </a:t>
            </a:r>
            <a:r>
              <a:rPr lang="pt-BR" sz="2400" dirty="0" err="1"/>
              <a:t>chatbot</a:t>
            </a:r>
            <a:r>
              <a:rPr lang="pt-BR" sz="2400" dirty="0"/>
              <a:t>, com capacidades de análise preditiva (previsões de receita), recomendações automáticas para otimização de negócio, e histórico contextualizado de análises. Na plataforma, seriam adicionados simuladores financeiros, relatórios personalizados (PDF/Excel), notificações inteligentes para alertas críticos, e integração com ferramentas de comunicação (Slack/Teams) para disseminação automática de insights. Sobre a infraestrutura, queríamos uma otimização de performance para big data em tempo real, e desenvolvimento de aplicativo mobile nativo que replique todas as funcionalidades do dashboard web, viabilizando decisões estratégicas em qualquer contexto.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9068" y="13404503"/>
            <a:ext cx="12868819" cy="995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C36539B3-03B4-9E15-C22B-94F5A2E54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648" y="15169787"/>
            <a:ext cx="2391362" cy="1235437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3210" y="15449454"/>
            <a:ext cx="1699135" cy="1274351"/>
          </a:xfrm>
          <a:prstGeom prst="rect">
            <a:avLst/>
          </a:prstGeom>
        </p:spPr>
      </p:pic>
      <p:pic>
        <p:nvPicPr>
          <p:cNvPr id="20" name="Imagem 19" descr="Homem de camisa preta&#10;&#10;O conteúdo gerado por IA pode estar incorreto.">
            <a:extLst>
              <a:ext uri="{FF2B5EF4-FFF2-40B4-BE49-F238E27FC236}">
                <a16:creationId xmlns:a16="http://schemas.microsoft.com/office/drawing/2014/main" id="{D216EB92-32C7-EBFD-354F-7D0FF567E41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971" y="10552245"/>
            <a:ext cx="1884969" cy="188496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Imagem 22" descr="Homem segurando câmera fotográfica&#10;&#10;O conteúdo gerado por IA pode estar incorreto.">
            <a:extLst>
              <a:ext uri="{FF2B5EF4-FFF2-40B4-BE49-F238E27FC236}">
                <a16:creationId xmlns:a16="http://schemas.microsoft.com/office/drawing/2014/main" id="{6403BB53-6512-4728-ADF9-8D8027C507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4834" y="10552244"/>
            <a:ext cx="1884970" cy="18849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Imagem 24" descr="Homem com a mão no queixo&#10;&#10;O conteúdo gerado por IA pode estar incorreto.">
            <a:extLst>
              <a:ext uri="{FF2B5EF4-FFF2-40B4-BE49-F238E27FC236}">
                <a16:creationId xmlns:a16="http://schemas.microsoft.com/office/drawing/2014/main" id="{4A26797E-5CE0-D3FB-4EB1-9AA30D0D54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212" y="10552244"/>
            <a:ext cx="1884971" cy="18849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" name="Imagem 26" descr="Mulher posando para foto&#10;&#10;O conteúdo gerado por IA pode estar incorreto.">
            <a:extLst>
              <a:ext uri="{FF2B5EF4-FFF2-40B4-BE49-F238E27FC236}">
                <a16:creationId xmlns:a16="http://schemas.microsoft.com/office/drawing/2014/main" id="{0C4C7160-FD5C-942B-1F50-B5DFFCB48C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6038" y="10552242"/>
            <a:ext cx="1884972" cy="18849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8" name="TextBox 8">
            <a:extLst>
              <a:ext uri="{FF2B5EF4-FFF2-40B4-BE49-F238E27FC236}">
                <a16:creationId xmlns:a16="http://schemas.microsoft.com/office/drawing/2014/main" id="{7B6ABA69-52DC-58E1-0FD7-915485C96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0784" y="12399967"/>
            <a:ext cx="10970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ctr" defTabSz="1678349" eaLnBrk="1" hangingPunct="1">
              <a:defRPr sz="2000" b="1">
                <a:solidFill>
                  <a:srgbClr val="006600"/>
                </a:solidFill>
                <a:ea typeface="ＭＳ Ｐゴシック" pitchFamily="34" charset="-128"/>
              </a:defRPr>
            </a:lvl1pPr>
          </a:lstStyle>
          <a:p>
            <a:r>
              <a:rPr lang="pt-BR" dirty="0">
                <a:solidFill>
                  <a:schemeClr val="tx1"/>
                </a:solidFill>
              </a:rPr>
              <a:t>Gabriel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1A149F1A-531C-07C2-15C9-9AAB1CF1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8005" y="12415233"/>
            <a:ext cx="15987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ctr" defTabSz="1678349" eaLnBrk="1" hangingPunct="1">
              <a:defRPr sz="2000" b="1">
                <a:solidFill>
                  <a:srgbClr val="006600"/>
                </a:solidFill>
                <a:ea typeface="ＭＳ Ｐゴシック" pitchFamily="34" charset="-128"/>
              </a:defRPr>
            </a:lvl1pPr>
          </a:lstStyle>
          <a:p>
            <a:r>
              <a:rPr lang="pt-BR" dirty="0">
                <a:solidFill>
                  <a:schemeClr val="tx1"/>
                </a:solidFill>
              </a:rPr>
              <a:t>Guilherme</a:t>
            </a: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0C9001A9-4FE7-FF38-3D14-56836BC5E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7622" y="12399967"/>
            <a:ext cx="15987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2000" b="1" dirty="0">
                <a:ea typeface="ＭＳ Ｐゴシック" pitchFamily="34" charset="-128"/>
              </a:rPr>
              <a:t>Rodrigo</a:t>
            </a:r>
            <a:endParaRPr lang="pt-BR" sz="2000" b="1" dirty="0"/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A7A487BE-F3F3-2781-2355-0F6DE74EB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7239" y="12404320"/>
            <a:ext cx="15987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ctr" defTabSz="1678349" eaLnBrk="1" hangingPunct="1">
              <a:defRPr sz="2000" b="1">
                <a:solidFill>
                  <a:srgbClr val="006600"/>
                </a:solidFill>
                <a:ea typeface="ＭＳ Ｐゴシック" pitchFamily="34" charset="-128"/>
              </a:defRPr>
            </a:lvl1pPr>
          </a:lstStyle>
          <a:p>
            <a:r>
              <a:rPr lang="pt-BR" dirty="0">
                <a:solidFill>
                  <a:schemeClr val="tx1"/>
                </a:solidFill>
              </a:rPr>
              <a:t>Vitória</a:t>
            </a:r>
          </a:p>
        </p:txBody>
      </p:sp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B0BF431-73BE-F722-AF63-37C58C07B61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449" y="14914252"/>
            <a:ext cx="3879442" cy="2270080"/>
          </a:xfrm>
          <a:prstGeom prst="rect">
            <a:avLst/>
          </a:prstGeom>
        </p:spPr>
      </p:pic>
      <p:pic>
        <p:nvPicPr>
          <p:cNvPr id="22" name="Imagem 21" descr="Logotipo&#10;&#10;O conteúdo gerado por IA pode estar incorreto.">
            <a:extLst>
              <a:ext uri="{FF2B5EF4-FFF2-40B4-BE49-F238E27FC236}">
                <a16:creationId xmlns:a16="http://schemas.microsoft.com/office/drawing/2014/main" id="{2A0D845B-DB67-BD8B-5BE7-89E8EB37077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0385" y="15686158"/>
            <a:ext cx="2208224" cy="1104112"/>
          </a:xfrm>
          <a:prstGeom prst="rect">
            <a:avLst/>
          </a:prstGeom>
        </p:spPr>
      </p:pic>
      <p:pic>
        <p:nvPicPr>
          <p:cNvPr id="26" name="Imagem 25" descr="Logotipo&#10;&#10;O conteúdo gerado por IA pode estar incorreto.">
            <a:extLst>
              <a:ext uri="{FF2B5EF4-FFF2-40B4-BE49-F238E27FC236}">
                <a16:creationId xmlns:a16="http://schemas.microsoft.com/office/drawing/2014/main" id="{19A9397B-4AAB-6904-3841-A18F9A6939A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38" y="15324951"/>
            <a:ext cx="3049419" cy="1715298"/>
          </a:xfrm>
          <a:prstGeom prst="rect">
            <a:avLst/>
          </a:prstGeom>
        </p:spPr>
      </p:pic>
      <p:pic>
        <p:nvPicPr>
          <p:cNvPr id="34" name="Imagem 33" descr="Ícone&#10;&#10;O conteúdo gerado por IA pode estar incorreto.">
            <a:extLst>
              <a:ext uri="{FF2B5EF4-FFF2-40B4-BE49-F238E27FC236}">
                <a16:creationId xmlns:a16="http://schemas.microsoft.com/office/drawing/2014/main" id="{DA308138-D7F8-A9BA-79D8-092FACB0A58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4188" y="14687551"/>
            <a:ext cx="3650519" cy="2737342"/>
          </a:xfrm>
          <a:prstGeom prst="rect">
            <a:avLst/>
          </a:prstGeom>
        </p:spPr>
      </p:pic>
      <p:pic>
        <p:nvPicPr>
          <p:cNvPr id="36" name="Imagem 3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217A6A51-3C75-622F-3B5F-E64124FD3FF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4843" y="15618712"/>
            <a:ext cx="2914991" cy="1179661"/>
          </a:xfrm>
          <a:prstGeom prst="rect">
            <a:avLst/>
          </a:prstGeom>
        </p:spPr>
      </p:pic>
      <p:pic>
        <p:nvPicPr>
          <p:cNvPr id="38" name="Imagem 37" descr="Forma&#10;&#10;O conteúdo gerado por IA pode estar incorreto.">
            <a:extLst>
              <a:ext uri="{FF2B5EF4-FFF2-40B4-BE49-F238E27FC236}">
                <a16:creationId xmlns:a16="http://schemas.microsoft.com/office/drawing/2014/main" id="{CB434108-2F14-2F42-F285-32374B9375D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403" y="15456829"/>
            <a:ext cx="3276716" cy="128338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E749BE69-CF60-C678-4D0F-9E2D9811599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593007" y="25747096"/>
            <a:ext cx="13606952" cy="6942455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BF00E527-D7CF-BB15-8698-4305EB7288B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593006" y="18022587"/>
            <a:ext cx="13548815" cy="7301341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EF52C932-E9B4-D0E1-16A1-218095B41B7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7168" y="25771993"/>
            <a:ext cx="13540269" cy="6917558"/>
          </a:xfrm>
          <a:prstGeom prst="rect">
            <a:avLst/>
          </a:prstGeom>
        </p:spPr>
      </p:pic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F2D7B80-B4C7-90CE-1482-6F38D90C86E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3" r="9733"/>
          <a:stretch>
            <a:fillRect/>
          </a:stretch>
        </p:blipFill>
        <p:spPr>
          <a:xfrm>
            <a:off x="527788" y="17966653"/>
            <a:ext cx="13447585" cy="74046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74E9C4D9-2DF3-430D-9D26-B87735ECD4E8}"/>
              </a:ext>
            </a:extLst>
          </p:cNvPr>
          <p:cNvSpPr/>
          <p:nvPr/>
        </p:nvSpPr>
        <p:spPr bwMode="auto">
          <a:xfrm>
            <a:off x="10610784" y="24048591"/>
            <a:ext cx="2901561" cy="682016"/>
          </a:xfrm>
          <a:prstGeom prst="rect">
            <a:avLst/>
          </a:prstGeom>
          <a:solidFill>
            <a:srgbClr val="01010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0861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6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Props1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580D08-C850-4D98-9BB0-6190D1509D8A}">
  <ds:schemaRefs>
    <ds:schemaRef ds:uri="http://purl.org/dc/terms/"/>
    <ds:schemaRef ds:uri="http://schemas.microsoft.com/office/2006/documentManagement/types"/>
    <ds:schemaRef ds:uri="8ca2a57e-8138-4b57-956a-eb6e2c7049cc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1d2798d9-1030-4cc5-be7b-200f9e628651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956</TotalTime>
  <Words>710</Words>
  <Application>Microsoft Office PowerPoint</Application>
  <PresentationFormat>Personalizar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Dashboard PicMoney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Vit�ria Silva123456 24026593</cp:lastModifiedBy>
  <cp:revision>54</cp:revision>
  <dcterms:created xsi:type="dcterms:W3CDTF">2006-11-04T15:46:42Z</dcterms:created>
  <dcterms:modified xsi:type="dcterms:W3CDTF">2025-11-11T00:03:29Z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