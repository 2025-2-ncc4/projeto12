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 autoAdjust="0"/>
    <p:restoredTop sz="94660"/>
  </p:normalViewPr>
  <p:slideViewPr>
    <p:cSldViewPr>
      <p:cViewPr>
        <p:scale>
          <a:sx n="30" d="100"/>
          <a:sy n="30" d="100"/>
        </p:scale>
        <p:origin x="1234" y="-4762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18" Type="http://schemas.openxmlformats.org/officeDocument/2006/relationships/image" Target="../media/image16.jpeg"/><Relationship Id="rId3" Type="http://schemas.openxmlformats.org/officeDocument/2006/relationships/image" Target="../media/image1.jpeg"/><Relationship Id="rId21" Type="http://schemas.openxmlformats.org/officeDocument/2006/relationships/image" Target="../media/image19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jpeg"/><Relationship Id="rId4" Type="http://schemas.openxmlformats.org/officeDocument/2006/relationships/image" Target="../media/image2.png"/><Relationship Id="rId9" Type="http://schemas.openxmlformats.org/officeDocument/2006/relationships/image" Target="../media/image7.jp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0" y="10648"/>
            <a:ext cx="28774944" cy="43179343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Gabriel Carvalho Mota - Guilherme de Lima Siqueira - Rodrigo Luiz Menezes dos Reis - Vitória Leticia Maciel da Silva</a:t>
            </a: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5437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 </a:t>
            </a:r>
            <a:r>
              <a:rPr lang="pt-BR" sz="2400" dirty="0"/>
              <a:t>Somos o </a:t>
            </a:r>
            <a:r>
              <a:rPr lang="pt-BR" sz="2400" b="1" dirty="0"/>
              <a:t>RADONIX</a:t>
            </a:r>
            <a:r>
              <a:rPr lang="pt-BR" sz="2400" dirty="0"/>
              <a:t>, uma equipe de quatro desenvolvedores que se uniram para transformar uma ideia em um projeto real: </a:t>
            </a:r>
            <a:r>
              <a:rPr lang="pt-BR" sz="2400" b="1" dirty="0"/>
              <a:t>Vitória Maciel, Gabriel Carvalho, Guilherme Siqueira e Rodrigo Luiz</a:t>
            </a:r>
            <a:r>
              <a:rPr lang="pt-BR" sz="2400" dirty="0"/>
              <a:t>. Durante todo o desenvolvimento do </a:t>
            </a:r>
            <a:r>
              <a:rPr lang="pt-BR" sz="2400" b="1" dirty="0"/>
              <a:t>Dashboard </a:t>
            </a:r>
            <a:r>
              <a:rPr lang="pt-BR" sz="2400" b="1" dirty="0" err="1"/>
              <a:t>PicMoney</a:t>
            </a:r>
            <a:r>
              <a:rPr lang="pt-BR" sz="2400" dirty="0"/>
              <a:t>, cada um de nós focou em uma área específica, mas o importante mesmo é que a gente trabalha de forma bem integrada. O </a:t>
            </a:r>
            <a:r>
              <a:rPr lang="pt-BR" sz="2400" b="1" dirty="0"/>
              <a:t>Gabriel</a:t>
            </a:r>
            <a:r>
              <a:rPr lang="pt-BR" sz="2400" dirty="0"/>
              <a:t> foi praticamente o maestro do </a:t>
            </a:r>
            <a:r>
              <a:rPr lang="pt-BR" sz="2400" dirty="0" err="1"/>
              <a:t>chatbot</a:t>
            </a:r>
            <a:r>
              <a:rPr lang="pt-BR" sz="2400" dirty="0"/>
              <a:t>, entendendo bem como fazer a IA retornar os dados certos. O </a:t>
            </a:r>
            <a:r>
              <a:rPr lang="pt-BR" sz="2400" b="1" dirty="0"/>
              <a:t>Guilherme</a:t>
            </a:r>
            <a:r>
              <a:rPr lang="pt-BR" sz="2400" dirty="0"/>
              <a:t> estruturou o </a:t>
            </a:r>
            <a:r>
              <a:rPr lang="pt-BR" sz="2400" dirty="0" err="1"/>
              <a:t>backend</a:t>
            </a:r>
            <a:r>
              <a:rPr lang="pt-BR" sz="2400" dirty="0"/>
              <a:t> e garantiu que tudo rodasse de forma estável, o </a:t>
            </a:r>
            <a:r>
              <a:rPr lang="pt-BR" sz="2400" b="1" dirty="0"/>
              <a:t>Rodrigo</a:t>
            </a:r>
            <a:r>
              <a:rPr lang="pt-BR" sz="2400" dirty="0"/>
              <a:t> ficou com o </a:t>
            </a:r>
            <a:r>
              <a:rPr lang="pt-BR" sz="2400" dirty="0" err="1"/>
              <a:t>frontend</a:t>
            </a:r>
            <a:r>
              <a:rPr lang="pt-BR" sz="2400" dirty="0"/>
              <a:t> e a </a:t>
            </a:r>
            <a:r>
              <a:rPr lang="pt-BR" sz="2400" b="1" dirty="0"/>
              <a:t>Vitória</a:t>
            </a:r>
            <a:r>
              <a:rPr lang="pt-BR" sz="2400" dirty="0"/>
              <a:t> atuou tanto no </a:t>
            </a:r>
            <a:r>
              <a:rPr lang="pt-BR" sz="2400" dirty="0" err="1"/>
              <a:t>frontend</a:t>
            </a:r>
            <a:r>
              <a:rPr lang="pt-BR" sz="2400" dirty="0"/>
              <a:t> quanto no </a:t>
            </a:r>
            <a:r>
              <a:rPr lang="pt-BR" sz="2400" dirty="0" err="1"/>
              <a:t>backend</a:t>
            </a:r>
            <a:r>
              <a:rPr lang="pt-BR" sz="2400" dirty="0"/>
              <a:t> (Banco de Dados).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	O que nos faz diferente é realmente a forma como nos ajudamos. A gente trabalha com Scrum e Kanban, fazendo reuniões semanais pra alinhar o que cada um está fazendo e se tem alguma coisa travada. Essa dinâmica deixou o projeto bem melhor do que seria se a gente tivesse trabalhado isolado.</a:t>
            </a:r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Dashboard </a:t>
            </a:r>
            <a:r>
              <a:rPr lang="pt-BR" sz="5866" b="1" dirty="0" err="1"/>
              <a:t>PicMoney</a:t>
            </a:r>
            <a:endParaRPr lang="pt-BR" sz="5866" b="1" dirty="0"/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202X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45447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A </a:t>
            </a:r>
            <a:r>
              <a:rPr lang="pt-BR" sz="2400" b="1" dirty="0" err="1"/>
              <a:t>PicMoney</a:t>
            </a:r>
            <a:r>
              <a:rPr lang="pt-BR" sz="2400" dirty="0"/>
              <a:t> é uma startup que utiliza Realidade Aumentada e Georreferenciamento para distribuir cupons virtuais em redes de parceiros comerciais, mas carece de uma ferramenta centralizada para análise de dados estratégicos, financeiros e operacionais voltada ao público executivo. Atualmente, os gestores não possuem visibilidade consolidada sobre KPIs críticos como receita líquida, margem operacional, taxa de conversão de cupons, concentração de risco por parceiros e desempenho regional, o que dificulta a tomada de decisão ágil e baseada em dados. O desafio consiste em desenvolver um </a:t>
            </a:r>
            <a:r>
              <a:rPr lang="pt-BR" sz="2400" b="1" dirty="0"/>
              <a:t>Dashboard Interativo</a:t>
            </a:r>
            <a:r>
              <a:rPr lang="pt-BR" sz="2400" dirty="0"/>
              <a:t> personalizável, capaz de integrar múltiplas fontes de dados e oferecer visualizações dinâmicas por perfil executivo (CEO e CFO), viabilizando assim uma gestão mais eficiente e estratégica do negócio.</a:t>
            </a:r>
            <a:endParaRPr lang="pt-BR" sz="2666" dirty="0"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2689551"/>
            <a:ext cx="13318910" cy="7283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O projeto consiste no desenvolvimento de um </a:t>
            </a:r>
            <a:r>
              <a:rPr lang="pt-BR" sz="2400" b="1" dirty="0"/>
              <a:t>Dashboard Interativo Web </a:t>
            </a:r>
            <a:r>
              <a:rPr lang="pt-BR" sz="2400" dirty="0"/>
              <a:t>utilizando </a:t>
            </a:r>
            <a:r>
              <a:rPr lang="pt-BR" sz="2400" b="1" dirty="0"/>
              <a:t>Python</a:t>
            </a:r>
            <a:r>
              <a:rPr lang="pt-BR" sz="2400" dirty="0"/>
              <a:t> com </a:t>
            </a:r>
            <a:r>
              <a:rPr lang="pt-BR" sz="2400" b="1" dirty="0" err="1"/>
              <a:t>Streamlit</a:t>
            </a:r>
            <a:r>
              <a:rPr lang="pt-BR" sz="2400" dirty="0"/>
              <a:t> no </a:t>
            </a:r>
            <a:r>
              <a:rPr lang="pt-BR" sz="2400" dirty="0" err="1"/>
              <a:t>frontend</a:t>
            </a:r>
            <a:r>
              <a:rPr lang="pt-BR" sz="2400" dirty="0"/>
              <a:t> e </a:t>
            </a:r>
            <a:r>
              <a:rPr lang="pt-BR" sz="2400" b="1" dirty="0" err="1"/>
              <a:t>Flask</a:t>
            </a:r>
            <a:r>
              <a:rPr lang="pt-BR" sz="2400" dirty="0"/>
              <a:t> no </a:t>
            </a:r>
            <a:r>
              <a:rPr lang="pt-BR" sz="2400" dirty="0" err="1"/>
              <a:t>backend</a:t>
            </a:r>
            <a:r>
              <a:rPr lang="pt-BR" sz="2400" dirty="0"/>
              <a:t>, integrado a um banco de dados </a:t>
            </a:r>
            <a:r>
              <a:rPr lang="pt-BR" sz="2400" b="1" dirty="0"/>
              <a:t>MySQL</a:t>
            </a:r>
            <a:r>
              <a:rPr lang="pt-BR" sz="2400" dirty="0"/>
              <a:t> para gestão centralizada de dados da </a:t>
            </a:r>
            <a:r>
              <a:rPr lang="pt-BR" sz="2400" b="1" dirty="0" err="1"/>
              <a:t>PicMoney</a:t>
            </a:r>
            <a:r>
              <a:rPr lang="pt-BR" sz="2400" dirty="0"/>
              <a:t>. A solução oferece três interfaces personalizadas: uma página Home com visão consolidada dos principais KPIs, um dashboard específico para o </a:t>
            </a:r>
            <a:r>
              <a:rPr lang="pt-BR" sz="2400" b="1" dirty="0"/>
              <a:t>CEO</a:t>
            </a:r>
            <a:r>
              <a:rPr lang="pt-BR" sz="2400" dirty="0"/>
              <a:t> focado em métricas estratégicas, e outro para o CFO voltado a indicadores financeiros. O sistema conta com visualizações interativas utilizando </a:t>
            </a:r>
            <a:r>
              <a:rPr lang="pt-BR" sz="2400" dirty="0" err="1"/>
              <a:t>Plotly</a:t>
            </a:r>
            <a:r>
              <a:rPr lang="pt-BR" sz="2400" dirty="0"/>
              <a:t> (gráficos de linha, barras, dispersão e mapas de calor georreferenciados), filtros dinâmicos por período, categoria e região, e autenticação por perfil para garantir acesso seguro e personalizado aos executivos, proporcionando assim uma ferramenta completa para análise de dados, apoio à decisão estratégica e otimização da gestão empresarial.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	Adicionalmente, foi desenvolvido um </a:t>
            </a:r>
            <a:r>
              <a:rPr lang="pt-BR" sz="2400" dirty="0" err="1"/>
              <a:t>chatbot</a:t>
            </a:r>
            <a:r>
              <a:rPr lang="pt-BR" sz="2400" dirty="0"/>
              <a:t> inteligente integrado à API do Google Gemini que, através de processamento de linguagem natural contextualizado, interpreta perguntas dos executivos e retorna dados diretamente do banco de dados MySQL. O </a:t>
            </a:r>
            <a:r>
              <a:rPr lang="pt-BR" sz="2400" dirty="0" err="1"/>
              <a:t>chatbot</a:t>
            </a:r>
            <a:r>
              <a:rPr lang="pt-BR" sz="2400" dirty="0"/>
              <a:t> utiliza prompts customizados com contexto do esquema do banco e regras de negócio da </a:t>
            </a:r>
            <a:r>
              <a:rPr lang="pt-BR" sz="2400" dirty="0" err="1"/>
              <a:t>PicMoney</a:t>
            </a:r>
            <a:r>
              <a:rPr lang="pt-BR" sz="2400" dirty="0"/>
              <a:t>, garantindo respostas precisas e alinhadas à realidade operacional, eliminando a necessidade de conhecimento técnico em SQL e proporcionando acesso instantâneo e conversacional aos indicadores estratégicos.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056747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Eduardo </a:t>
            </a:r>
            <a:r>
              <a:rPr lang="pt-BR" sz="2666" b="1" kern="0" dirty="0" err="1"/>
              <a:t>Savino</a:t>
            </a:r>
            <a:r>
              <a:rPr lang="pt-BR" sz="2666" b="1" kern="0" dirty="0"/>
              <a:t>, Lucy Mari </a:t>
            </a:r>
            <a:r>
              <a:rPr lang="pt-BR" sz="2666" b="1" kern="0" dirty="0" err="1"/>
              <a:t>Tabuti</a:t>
            </a:r>
            <a:r>
              <a:rPr lang="pt-BR" sz="2666" b="1" kern="0" dirty="0"/>
              <a:t>, Mauricio Lopes, </a:t>
            </a:r>
            <a:r>
              <a:rPr lang="pt-BR" sz="2666" b="1" kern="0" dirty="0" err="1"/>
              <a:t>Rodnil</a:t>
            </a:r>
            <a:r>
              <a:rPr lang="pt-BR" sz="2666" b="1" kern="0" dirty="0"/>
              <a:t> Lisboa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66876" y="32692804"/>
            <a:ext cx="13318910" cy="417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  </a:t>
            </a:r>
            <a:r>
              <a:rPr lang="pt-BR" sz="2400" dirty="0"/>
              <a:t>O futuro do Dashboard </a:t>
            </a:r>
            <a:r>
              <a:rPr lang="pt-BR" sz="2400" dirty="0" err="1"/>
              <a:t>PicMoney</a:t>
            </a:r>
            <a:r>
              <a:rPr lang="pt-BR" sz="2400" dirty="0"/>
              <a:t> contempla melhorias na inteligência conversacional do </a:t>
            </a:r>
            <a:r>
              <a:rPr lang="pt-BR" sz="2400" dirty="0" err="1"/>
              <a:t>chatbot</a:t>
            </a:r>
            <a:r>
              <a:rPr lang="pt-BR" sz="2400" dirty="0"/>
              <a:t>, com capacidades de análise preditiva (previsões de receita), recomendações automáticas para otimização de negócio, e histórico contextualizado de análises. Na plataforma, seriam adicionados simuladores financeiros, relatórios personalizados (PDF/Excel), notificações inteligentes para alertas críticos, e integração com ferramentas de comunicação (Slack/Teams) para disseminação automática de insights. Sobre a infraestrutura, queríamos uma otimização de performance para big data em tempo real, e desenvolvimento de aplicativo mobile nativo que replique todas as funcionalidades do dashboard web, viabilizando decisões estratégicas em qualquer contexto.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80583" y="10386412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1" name="Imagem 10" descr="Logotipo&#10;&#10;O conteúdo gerado por IA pode estar incorreto.">
            <a:extLst>
              <a:ext uri="{FF2B5EF4-FFF2-40B4-BE49-F238E27FC236}">
                <a16:creationId xmlns:a16="http://schemas.microsoft.com/office/drawing/2014/main" id="{C36539B3-03B4-9E15-C22B-94F5A2E54A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08128" y="13768172"/>
            <a:ext cx="2391362" cy="1235437"/>
          </a:xfrm>
          <a:prstGeom prst="rect">
            <a:avLst/>
          </a:prstGeom>
        </p:spPr>
      </p:pic>
      <p:pic>
        <p:nvPicPr>
          <p:cNvPr id="15" name="Imagem 1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31366770-2457-D40F-603F-BB4428389EC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65557" y="12404644"/>
            <a:ext cx="1699135" cy="1274351"/>
          </a:xfrm>
          <a:prstGeom prst="rect">
            <a:avLst/>
          </a:prstGeom>
        </p:spPr>
      </p:pic>
      <p:pic>
        <p:nvPicPr>
          <p:cNvPr id="20" name="Imagem 19" descr="Homem de camisa preta&#10;&#10;O conteúdo gerado por IA pode estar incorreto.">
            <a:extLst>
              <a:ext uri="{FF2B5EF4-FFF2-40B4-BE49-F238E27FC236}">
                <a16:creationId xmlns:a16="http://schemas.microsoft.com/office/drawing/2014/main" id="{D216EB92-32C7-EBFD-354F-7D0FF567E4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237" y="11735226"/>
            <a:ext cx="1884969" cy="188496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3" name="Imagem 22" descr="Homem segurando câmera fotográfica&#10;&#10;O conteúdo gerado por IA pode estar incorreto.">
            <a:extLst>
              <a:ext uri="{FF2B5EF4-FFF2-40B4-BE49-F238E27FC236}">
                <a16:creationId xmlns:a16="http://schemas.microsoft.com/office/drawing/2014/main" id="{6403BB53-6512-4728-ADF9-8D8027C507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100" y="11735225"/>
            <a:ext cx="1884970" cy="188497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5" name="Imagem 24" descr="Homem com a mão no queixo&#10;&#10;O conteúdo gerado por IA pode estar incorreto.">
            <a:extLst>
              <a:ext uri="{FF2B5EF4-FFF2-40B4-BE49-F238E27FC236}">
                <a16:creationId xmlns:a16="http://schemas.microsoft.com/office/drawing/2014/main" id="{4A26797E-5CE0-D3FB-4EB1-9AA30D0D54F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4478" y="11735225"/>
            <a:ext cx="1884971" cy="188497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7" name="Imagem 26" descr="Mulher posando para foto&#10;&#10;O conteúdo gerado por IA pode estar incorreto.">
            <a:extLst>
              <a:ext uri="{FF2B5EF4-FFF2-40B4-BE49-F238E27FC236}">
                <a16:creationId xmlns:a16="http://schemas.microsoft.com/office/drawing/2014/main" id="{0C4C7160-FD5C-942B-1F50-B5DFFCB48C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0304" y="11735223"/>
            <a:ext cx="1884972" cy="188497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8" name="TextBox 8">
            <a:extLst>
              <a:ext uri="{FF2B5EF4-FFF2-40B4-BE49-F238E27FC236}">
                <a16:creationId xmlns:a16="http://schemas.microsoft.com/office/drawing/2014/main" id="{7B6ABA69-52DC-58E1-0FD7-915485C96C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050" y="13582948"/>
            <a:ext cx="109706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pt-BR"/>
            </a:defPPr>
            <a:lvl1pPr algn="ctr" defTabSz="1678349" eaLnBrk="1" hangingPunct="1">
              <a:defRPr sz="2000" b="1">
                <a:solidFill>
                  <a:srgbClr val="006600"/>
                </a:solidFill>
                <a:ea typeface="ＭＳ Ｐゴシック" pitchFamily="34" charset="-128"/>
              </a:defRPr>
            </a:lvl1pPr>
          </a:lstStyle>
          <a:p>
            <a:r>
              <a:rPr lang="pt-BR" dirty="0">
                <a:solidFill>
                  <a:schemeClr val="tx1"/>
                </a:solidFill>
              </a:rPr>
              <a:t>Gabriel</a:t>
            </a: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1A149F1A-531C-07C2-15C9-9AAB1CF10D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2271" y="13598214"/>
            <a:ext cx="159878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pt-BR"/>
            </a:defPPr>
            <a:lvl1pPr algn="ctr" defTabSz="1678349" eaLnBrk="1" hangingPunct="1">
              <a:defRPr sz="2000" b="1">
                <a:solidFill>
                  <a:srgbClr val="006600"/>
                </a:solidFill>
                <a:ea typeface="ＭＳ Ｐゴシック" pitchFamily="34" charset="-128"/>
              </a:defRPr>
            </a:lvl1pPr>
          </a:lstStyle>
          <a:p>
            <a:r>
              <a:rPr lang="pt-BR" dirty="0">
                <a:solidFill>
                  <a:schemeClr val="tx1"/>
                </a:solidFill>
              </a:rPr>
              <a:t>Guilherme</a:t>
            </a:r>
          </a:p>
        </p:txBody>
      </p:sp>
      <p:sp>
        <p:nvSpPr>
          <p:cNvPr id="31" name="TextBox 8">
            <a:extLst>
              <a:ext uri="{FF2B5EF4-FFF2-40B4-BE49-F238E27FC236}">
                <a16:creationId xmlns:a16="http://schemas.microsoft.com/office/drawing/2014/main" id="{0C9001A9-4FE7-FF38-3D14-56836BC5E3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1888" y="13582948"/>
            <a:ext cx="159878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2000" b="1" dirty="0">
                <a:ea typeface="ＭＳ Ｐゴシック" pitchFamily="34" charset="-128"/>
              </a:rPr>
              <a:t>Rodrigo</a:t>
            </a:r>
            <a:endParaRPr lang="pt-BR" sz="2000" b="1" dirty="0"/>
          </a:p>
        </p:txBody>
      </p:sp>
      <p:sp>
        <p:nvSpPr>
          <p:cNvPr id="32" name="TextBox 8">
            <a:extLst>
              <a:ext uri="{FF2B5EF4-FFF2-40B4-BE49-F238E27FC236}">
                <a16:creationId xmlns:a16="http://schemas.microsoft.com/office/drawing/2014/main" id="{A7A487BE-F3F3-2781-2355-0F6DE74EBA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71505" y="13587301"/>
            <a:ext cx="159878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pt-BR"/>
            </a:defPPr>
            <a:lvl1pPr algn="ctr" defTabSz="1678349" eaLnBrk="1" hangingPunct="1">
              <a:defRPr sz="2000" b="1">
                <a:solidFill>
                  <a:srgbClr val="006600"/>
                </a:solidFill>
                <a:ea typeface="ＭＳ Ｐゴシック" pitchFamily="34" charset="-128"/>
              </a:defRPr>
            </a:lvl1pPr>
          </a:lstStyle>
          <a:p>
            <a:r>
              <a:rPr lang="pt-BR" dirty="0">
                <a:solidFill>
                  <a:schemeClr val="tx1"/>
                </a:solidFill>
              </a:rPr>
              <a:t>Vitória</a:t>
            </a:r>
          </a:p>
        </p:txBody>
      </p:sp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B0BF431-73BE-F722-AF63-37C58C07B61C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16796" y="11869442"/>
            <a:ext cx="3879442" cy="2270080"/>
          </a:xfrm>
          <a:prstGeom prst="rect">
            <a:avLst/>
          </a:prstGeom>
        </p:spPr>
      </p:pic>
      <p:pic>
        <p:nvPicPr>
          <p:cNvPr id="22" name="Imagem 21" descr="Logotipo&#10;&#10;O conteúdo gerado por IA pode estar incorreto.">
            <a:extLst>
              <a:ext uri="{FF2B5EF4-FFF2-40B4-BE49-F238E27FC236}">
                <a16:creationId xmlns:a16="http://schemas.microsoft.com/office/drawing/2014/main" id="{2A0D845B-DB67-BD8B-5BE7-89E8EB370779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29865" y="14284543"/>
            <a:ext cx="2208224" cy="1104112"/>
          </a:xfrm>
          <a:prstGeom prst="rect">
            <a:avLst/>
          </a:prstGeom>
        </p:spPr>
      </p:pic>
      <p:pic>
        <p:nvPicPr>
          <p:cNvPr id="26" name="Imagem 25" descr="Logotipo&#10;&#10;O conteúdo gerado por IA pode estar incorreto.">
            <a:extLst>
              <a:ext uri="{FF2B5EF4-FFF2-40B4-BE49-F238E27FC236}">
                <a16:creationId xmlns:a16="http://schemas.microsoft.com/office/drawing/2014/main" id="{19A9397B-4AAB-6904-3841-A18F9A6939AA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9785" y="12280141"/>
            <a:ext cx="3049419" cy="1715298"/>
          </a:xfrm>
          <a:prstGeom prst="rect">
            <a:avLst/>
          </a:prstGeom>
        </p:spPr>
      </p:pic>
      <p:pic>
        <p:nvPicPr>
          <p:cNvPr id="34" name="Imagem 33" descr="Ícone&#10;&#10;O conteúdo gerado por IA pode estar incorreto.">
            <a:extLst>
              <a:ext uri="{FF2B5EF4-FFF2-40B4-BE49-F238E27FC236}">
                <a16:creationId xmlns:a16="http://schemas.microsoft.com/office/drawing/2014/main" id="{DA308138-D7F8-A9BA-79D8-092FACB0A589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16706" y="13285936"/>
            <a:ext cx="3650519" cy="2737342"/>
          </a:xfrm>
          <a:prstGeom prst="rect">
            <a:avLst/>
          </a:prstGeom>
        </p:spPr>
      </p:pic>
      <p:pic>
        <p:nvPicPr>
          <p:cNvPr id="36" name="Imagem 35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217A6A51-3C75-622F-3B5F-E64124FD3FF6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74323" y="14217097"/>
            <a:ext cx="2914991" cy="1179661"/>
          </a:xfrm>
          <a:prstGeom prst="rect">
            <a:avLst/>
          </a:prstGeom>
        </p:spPr>
      </p:pic>
      <p:pic>
        <p:nvPicPr>
          <p:cNvPr id="38" name="Imagem 37" descr="Forma&#10;&#10;O conteúdo gerado por IA pode estar incorreto.">
            <a:extLst>
              <a:ext uri="{FF2B5EF4-FFF2-40B4-BE49-F238E27FC236}">
                <a16:creationId xmlns:a16="http://schemas.microsoft.com/office/drawing/2014/main" id="{CB434108-2F14-2F42-F285-32374B9375D9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3750" y="12412019"/>
            <a:ext cx="3276716" cy="1283380"/>
          </a:xfrm>
          <a:prstGeom prst="rect">
            <a:avLst/>
          </a:prstGeom>
        </p:spPr>
      </p:pic>
      <p:pic>
        <p:nvPicPr>
          <p:cNvPr id="12" name="Imagem 11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D1BCCAE9-A530-1DEB-4A8C-C283F7CBA66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8" r="10309"/>
          <a:stretch>
            <a:fillRect/>
          </a:stretch>
        </p:blipFill>
        <p:spPr>
          <a:xfrm>
            <a:off x="14854317" y="16205156"/>
            <a:ext cx="12653249" cy="7161953"/>
          </a:xfrm>
          <a:prstGeom prst="rect">
            <a:avLst/>
          </a:prstGeom>
        </p:spPr>
      </p:pic>
      <p:pic>
        <p:nvPicPr>
          <p:cNvPr id="14" name="Imagem 13" descr="Tela de computador com letras brancas em fundo preto&#10;&#10;O conteúdo gerado por IA pode estar incorreto.">
            <a:extLst>
              <a:ext uri="{FF2B5EF4-FFF2-40B4-BE49-F238E27FC236}">
                <a16:creationId xmlns:a16="http://schemas.microsoft.com/office/drawing/2014/main" id="{B91E762E-2E8D-14A4-452F-C81A1039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14" r="10210"/>
          <a:stretch>
            <a:fillRect/>
          </a:stretch>
        </p:blipFill>
        <p:spPr>
          <a:xfrm>
            <a:off x="14896152" y="24408495"/>
            <a:ext cx="12653250" cy="7119641"/>
          </a:xfrm>
          <a:prstGeom prst="rect">
            <a:avLst/>
          </a:prstGeom>
        </p:spPr>
      </p:pic>
      <p:pic>
        <p:nvPicPr>
          <p:cNvPr id="17" name="Imagem 16" descr="Logotipo&#10;&#10;O conteúdo gerado por IA pode estar incorreto.">
            <a:extLst>
              <a:ext uri="{FF2B5EF4-FFF2-40B4-BE49-F238E27FC236}">
                <a16:creationId xmlns:a16="http://schemas.microsoft.com/office/drawing/2014/main" id="{C2B65BEB-7EA6-820B-6814-E75BC676E2A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83" r="9733"/>
          <a:stretch>
            <a:fillRect/>
          </a:stretch>
        </p:blipFill>
        <p:spPr>
          <a:xfrm>
            <a:off x="1195696" y="16253662"/>
            <a:ext cx="12653248" cy="7118839"/>
          </a:xfrm>
          <a:prstGeom prst="rect">
            <a:avLst/>
          </a:prstGeom>
        </p:spPr>
      </p:pic>
      <p:pic>
        <p:nvPicPr>
          <p:cNvPr id="19" name="Imagem 18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3F7082B-92CB-7E03-BC65-E8169822B6A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13" r="10102"/>
          <a:stretch>
            <a:fillRect/>
          </a:stretch>
        </p:blipFill>
        <p:spPr>
          <a:xfrm>
            <a:off x="1207403" y="24385100"/>
            <a:ext cx="12653251" cy="711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Props1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1d2798d9-1030-4cc5-be7b-200f9e628651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639</TotalTime>
  <Words>715</Words>
  <Application>Microsoft Office PowerPoint</Application>
  <PresentationFormat>Personalizar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Dashboard PicMoney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Vit�ria Silva123456 24026593</cp:lastModifiedBy>
  <cp:revision>52</cp:revision>
  <dcterms:created xsi:type="dcterms:W3CDTF">2006-11-04T15:46:42Z</dcterms:created>
  <dcterms:modified xsi:type="dcterms:W3CDTF">2025-11-03T21:55:12Z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